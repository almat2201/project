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7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3ecaefd82a4739" /><Relationship Type="http://schemas.openxmlformats.org/officeDocument/2006/relationships/extended-properties" Target="/docProps/app.xml" Id="R51563916c7b54850" /><Relationship Type="http://schemas.openxmlformats.org/officeDocument/2006/relationships/officeDocument" Target="/ppt/presentation.xml" Id="Ra94e34d69b5b40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f9e354954c438a"/>
  </p:sldMasterIdLst>
  <p:notesMasterIdLst>
    <p:notesMasterId xmlns:r="http://schemas.openxmlformats.org/officeDocument/2006/relationships" r:id="Rbf6d506215574254"/>
  </p:notesMasterIdLst>
  <p:sldIdLst>
    <p:sldId xmlns:r="http://schemas.openxmlformats.org/officeDocument/2006/relationships" id="256" r:id="R4080ff849e3b4f03"/>
    <p:sldId xmlns:r="http://schemas.openxmlformats.org/officeDocument/2006/relationships" id="257" r:id="R198661b7729348fc"/>
    <p:sldId xmlns:r="http://schemas.openxmlformats.org/officeDocument/2006/relationships" id="258" r:id="R0681d3ce4134434c"/>
    <p:sldId xmlns:r="http://schemas.openxmlformats.org/officeDocument/2006/relationships" id="259" r:id="Rc91a2297d79a4c7a"/>
    <p:sldId xmlns:r="http://schemas.openxmlformats.org/officeDocument/2006/relationships" id="260" r:id="R0317b91914ca448b"/>
    <p:sldId xmlns:r="http://schemas.openxmlformats.org/officeDocument/2006/relationships" id="261" r:id="R0931af7c5b414aab"/>
    <p:sldId xmlns:r="http://schemas.openxmlformats.org/officeDocument/2006/relationships" id="262" r:id="R10f5e876011d4446"/>
    <p:sldId xmlns:r="http://schemas.openxmlformats.org/officeDocument/2006/relationships" id="263" r:id="Rd249483ba886424b"/>
    <p:sldId xmlns:r="http://schemas.openxmlformats.org/officeDocument/2006/relationships" id="264" r:id="Rd947ff56dcd64aae"/>
    <p:sldId xmlns:r="http://schemas.openxmlformats.org/officeDocument/2006/relationships" id="265" r:id="Rf97af6658acc451e"/>
    <p:sldId xmlns:r="http://schemas.openxmlformats.org/officeDocument/2006/relationships" id="266" r:id="R4e7b2c77bc0d4bd7"/>
    <p:sldId xmlns:r="http://schemas.openxmlformats.org/officeDocument/2006/relationships" id="267" r:id="R8da3639766b946ee"/>
    <p:sldId xmlns:r="http://schemas.openxmlformats.org/officeDocument/2006/relationships" id="268" r:id="Rbca25c2dbf6f4c61"/>
    <p:sldId xmlns:r="http://schemas.openxmlformats.org/officeDocument/2006/relationships" id="269" r:id="R71a0a3d0b7e14a7d"/>
    <p:sldId xmlns:r="http://schemas.openxmlformats.org/officeDocument/2006/relationships" id="270" r:id="Ra42ea092d24f43a5"/>
    <p:sldId xmlns:r="http://schemas.openxmlformats.org/officeDocument/2006/relationships" id="271" r:id="R265e958301fd49df"/>
    <p:sldId xmlns:r="http://schemas.openxmlformats.org/officeDocument/2006/relationships" id="272" r:id="R88959aa58cee4019"/>
    <p:sldId xmlns:r="http://schemas.openxmlformats.org/officeDocument/2006/relationships" id="273" r:id="R7ea45381888e48ff"/>
    <p:sldId xmlns:r="http://schemas.openxmlformats.org/officeDocument/2006/relationships" id="274" r:id="Ra2aaa4aae9b942c1"/>
    <p:sldId xmlns:r="http://schemas.openxmlformats.org/officeDocument/2006/relationships" id="275" r:id="Re45687f709204a8f"/>
    <p:sldId xmlns:r="http://schemas.openxmlformats.org/officeDocument/2006/relationships" id="276" r:id="R5a179bb71f694ce1"/>
    <p:sldId xmlns:r="http://schemas.openxmlformats.org/officeDocument/2006/relationships" id="277" r:id="Rcee4537e85c4498c"/>
    <p:sldId xmlns:r="http://schemas.openxmlformats.org/officeDocument/2006/relationships" id="278" r:id="Rbd100e775de24803"/>
    <p:sldId xmlns:r="http://schemas.openxmlformats.org/officeDocument/2006/relationships" id="279" r:id="Rfea6ccaa3035456c"/>
    <p:sldId xmlns:r="http://schemas.openxmlformats.org/officeDocument/2006/relationships" id="280" r:id="R6151434361214739"/>
    <p:sldId xmlns:r="http://schemas.openxmlformats.org/officeDocument/2006/relationships" id="281" r:id="Rc5d68368b03f463d"/>
    <p:sldId xmlns:r="http://schemas.openxmlformats.org/officeDocument/2006/relationships" id="282" r:id="R3ea28fed7fe04634"/>
    <p:sldId xmlns:r="http://schemas.openxmlformats.org/officeDocument/2006/relationships" id="283" r:id="Ree0efe95d709458d"/>
    <p:sldId xmlns:r="http://schemas.openxmlformats.org/officeDocument/2006/relationships" id="284" r:id="R91441e9f273d4793"/>
    <p:sldId xmlns:r="http://schemas.openxmlformats.org/officeDocument/2006/relationships" id="285" r:id="Rb2a994b40ceb4d08"/>
    <p:sldId xmlns:r="http://schemas.openxmlformats.org/officeDocument/2006/relationships" id="286" r:id="Rf1db1d6432a54549"/>
    <p:sldId xmlns:r="http://schemas.openxmlformats.org/officeDocument/2006/relationships" id="287" r:id="Rb1a99c4c0cb846ce"/>
    <p:sldId xmlns:r="http://schemas.openxmlformats.org/officeDocument/2006/relationships" id="288" r:id="R86fd57fc7b664488"/>
    <p:sldId xmlns:r="http://schemas.openxmlformats.org/officeDocument/2006/relationships" id="289" r:id="R8c7a458e1f2140d9"/>
    <p:sldId xmlns:r="http://schemas.openxmlformats.org/officeDocument/2006/relationships" id="290" r:id="Rcd66b5c9bee64cd6"/>
    <p:sldId xmlns:r="http://schemas.openxmlformats.org/officeDocument/2006/relationships" id="291" r:id="R02734ecb80564df3"/>
    <p:sldId xmlns:r="http://schemas.openxmlformats.org/officeDocument/2006/relationships" id="292" r:id="R3c129e40abcb4f47"/>
    <p:sldId xmlns:r="http://schemas.openxmlformats.org/officeDocument/2006/relationships" id="293" r:id="R225fb16c5f4a4ce0"/>
    <p:sldId xmlns:r="http://schemas.openxmlformats.org/officeDocument/2006/relationships" id="294" r:id="Rb8756e974a414408"/>
    <p:sldId xmlns:r="http://schemas.openxmlformats.org/officeDocument/2006/relationships" id="295" r:id="R8a4c3999836b43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b0d48a8e9f4552" /><Relationship Type="http://schemas.openxmlformats.org/officeDocument/2006/relationships/slideMaster" Target="/ppt/slideMasters/slideMaster1.xml" Id="Rbcf9e354954c438a" /><Relationship Type="http://schemas.openxmlformats.org/officeDocument/2006/relationships/notesMaster" Target="/ppt/notesMasters/notesMaster1.xml" Id="Rbf6d506215574254" /><Relationship Type="http://schemas.openxmlformats.org/officeDocument/2006/relationships/presProps" Target="/ppt/presProps.xml" Id="R53bf35b591784211" /><Relationship Type="http://schemas.openxmlformats.org/officeDocument/2006/relationships/tableStyles" Target="/ppt/tableStyles.xml" Id="R97885f9edcd047bb" /><Relationship Type="http://schemas.openxmlformats.org/officeDocument/2006/relationships/slide" Target="/ppt/slides/slide1.xml" Id="R4080ff849e3b4f03" /><Relationship Type="http://schemas.openxmlformats.org/officeDocument/2006/relationships/slide" Target="/ppt/slides/slide2.xml" Id="R198661b7729348fc" /><Relationship Type="http://schemas.openxmlformats.org/officeDocument/2006/relationships/slide" Target="/ppt/slides/slide3.xml" Id="R0681d3ce4134434c" /><Relationship Type="http://schemas.openxmlformats.org/officeDocument/2006/relationships/slide" Target="/ppt/slides/slide4.xml" Id="Rc91a2297d79a4c7a" /><Relationship Type="http://schemas.openxmlformats.org/officeDocument/2006/relationships/slide" Target="/ppt/slides/slide5.xml" Id="R0317b91914ca448b" /><Relationship Type="http://schemas.openxmlformats.org/officeDocument/2006/relationships/slide" Target="/ppt/slides/slide6.xml" Id="R0931af7c5b414aab" /><Relationship Type="http://schemas.openxmlformats.org/officeDocument/2006/relationships/slide" Target="/ppt/slides/slide7.xml" Id="R10f5e876011d4446" /><Relationship Type="http://schemas.openxmlformats.org/officeDocument/2006/relationships/slide" Target="/ppt/slides/slide8.xml" Id="Rd249483ba886424b" /><Relationship Type="http://schemas.openxmlformats.org/officeDocument/2006/relationships/slide" Target="/ppt/slides/slide9.xml" Id="Rd947ff56dcd64aae" /><Relationship Type="http://schemas.openxmlformats.org/officeDocument/2006/relationships/slide" Target="/ppt/slides/slide10.xml" Id="Rf97af6658acc451e" /><Relationship Type="http://schemas.openxmlformats.org/officeDocument/2006/relationships/slide" Target="/ppt/slides/slide11.xml" Id="R4e7b2c77bc0d4bd7" /><Relationship Type="http://schemas.openxmlformats.org/officeDocument/2006/relationships/slide" Target="/ppt/slides/slide12.xml" Id="R8da3639766b946ee" /><Relationship Type="http://schemas.openxmlformats.org/officeDocument/2006/relationships/slide" Target="/ppt/slides/slide13.xml" Id="Rbca25c2dbf6f4c61" /><Relationship Type="http://schemas.openxmlformats.org/officeDocument/2006/relationships/slide" Target="/ppt/slides/slide14.xml" Id="R71a0a3d0b7e14a7d" /><Relationship Type="http://schemas.openxmlformats.org/officeDocument/2006/relationships/slide" Target="/ppt/slides/slide15.xml" Id="Ra42ea092d24f43a5" /><Relationship Type="http://schemas.openxmlformats.org/officeDocument/2006/relationships/slide" Target="/ppt/slides/slide16.xml" Id="R265e958301fd49df" /><Relationship Type="http://schemas.openxmlformats.org/officeDocument/2006/relationships/slide" Target="/ppt/slides/slide17.xml" Id="R88959aa58cee4019" /><Relationship Type="http://schemas.openxmlformats.org/officeDocument/2006/relationships/slide" Target="/ppt/slides/slide18.xml" Id="R7ea45381888e48ff" /><Relationship Type="http://schemas.openxmlformats.org/officeDocument/2006/relationships/slide" Target="/ppt/slides/slide19.xml" Id="Ra2aaa4aae9b942c1" /><Relationship Type="http://schemas.openxmlformats.org/officeDocument/2006/relationships/slide" Target="/ppt/slides/slide20.xml" Id="Re45687f709204a8f" /><Relationship Type="http://schemas.openxmlformats.org/officeDocument/2006/relationships/slide" Target="/ppt/slides/slide21.xml" Id="R5a179bb71f694ce1" /><Relationship Type="http://schemas.openxmlformats.org/officeDocument/2006/relationships/slide" Target="/ppt/slides/slide22.xml" Id="Rcee4537e85c4498c" /><Relationship Type="http://schemas.openxmlformats.org/officeDocument/2006/relationships/slide" Target="/ppt/slides/slide23.xml" Id="Rbd100e775de24803" /><Relationship Type="http://schemas.openxmlformats.org/officeDocument/2006/relationships/slide" Target="/ppt/slides/slide24.xml" Id="Rfea6ccaa3035456c" /><Relationship Type="http://schemas.openxmlformats.org/officeDocument/2006/relationships/slide" Target="/ppt/slides/slide25.xml" Id="R6151434361214739" /><Relationship Type="http://schemas.openxmlformats.org/officeDocument/2006/relationships/slide" Target="/ppt/slides/slide26.xml" Id="Rc5d68368b03f463d" /><Relationship Type="http://schemas.openxmlformats.org/officeDocument/2006/relationships/slide" Target="/ppt/slides/slide27.xml" Id="R3ea28fed7fe04634" /><Relationship Type="http://schemas.openxmlformats.org/officeDocument/2006/relationships/slide" Target="/ppt/slides/slide28.xml" Id="Ree0efe95d709458d" /><Relationship Type="http://schemas.openxmlformats.org/officeDocument/2006/relationships/slide" Target="/ppt/slides/slide29.xml" Id="R91441e9f273d4793" /><Relationship Type="http://schemas.openxmlformats.org/officeDocument/2006/relationships/slide" Target="/ppt/slides/slide30.xml" Id="Rb2a994b40ceb4d08" /><Relationship Type="http://schemas.openxmlformats.org/officeDocument/2006/relationships/slide" Target="/ppt/slides/slide31.xml" Id="Rf1db1d6432a54549" /><Relationship Type="http://schemas.openxmlformats.org/officeDocument/2006/relationships/slide" Target="/ppt/slides/slide32.xml" Id="Rb1a99c4c0cb846ce" /><Relationship Type="http://schemas.openxmlformats.org/officeDocument/2006/relationships/slide" Target="/ppt/slides/slide33.xml" Id="R86fd57fc7b664488" /><Relationship Type="http://schemas.openxmlformats.org/officeDocument/2006/relationships/slide" Target="/ppt/slides/slide34.xml" Id="R8c7a458e1f2140d9" /><Relationship Type="http://schemas.openxmlformats.org/officeDocument/2006/relationships/slide" Target="/ppt/slides/slide35.xml" Id="Rcd66b5c9bee64cd6" /><Relationship Type="http://schemas.openxmlformats.org/officeDocument/2006/relationships/slide" Target="/ppt/slides/slide36.xml" Id="R02734ecb80564df3" /><Relationship Type="http://schemas.openxmlformats.org/officeDocument/2006/relationships/slide" Target="/ppt/slides/slide37.xml" Id="R3c129e40abcb4f47" /><Relationship Type="http://schemas.openxmlformats.org/officeDocument/2006/relationships/slide" Target="/ppt/slides/slide38.xml" Id="R225fb16c5f4a4ce0" /><Relationship Type="http://schemas.openxmlformats.org/officeDocument/2006/relationships/slide" Target="/ppt/slides/slide39.xml" Id="Rb8756e974a414408" /><Relationship Type="http://schemas.openxmlformats.org/officeDocument/2006/relationships/slide" Target="/ppt/slides/slide40.xml" Id="R8a4c3999836b43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876f2108b343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af860e69864ea7" /><Relationship Type="http://schemas.openxmlformats.org/officeDocument/2006/relationships/notesMaster" Target="/ppt/notesMasters/notesMaster1.xml" Id="R7811b3be3a2645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4941c358eb4ef4" /><Relationship Type="http://schemas.openxmlformats.org/officeDocument/2006/relationships/notesMaster" Target="/ppt/notesMasters/notesMaster1.xml" Id="R515a3a484d30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645c32fce64d43" /><Relationship Type="http://schemas.openxmlformats.org/officeDocument/2006/relationships/notesMaster" Target="/ppt/notesMasters/notesMaster1.xml" Id="Rb1ff6f6b0199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714159f0a64006" /><Relationship Type="http://schemas.openxmlformats.org/officeDocument/2006/relationships/notesMaster" Target="/ppt/notesMasters/notesMaster1.xml" Id="R7001be224a254c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52b53b24c42d0" /><Relationship Type="http://schemas.openxmlformats.org/officeDocument/2006/relationships/notesMaster" Target="/ppt/notesMasters/notesMaster1.xml" Id="Rb9abcb92f5314f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fbb25390f84b41" /><Relationship Type="http://schemas.openxmlformats.org/officeDocument/2006/relationships/notesMaster" Target="/ppt/notesMasters/notesMaster1.xml" Id="R01a9b596837644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fd1136fa134450" /><Relationship Type="http://schemas.openxmlformats.org/officeDocument/2006/relationships/notesMaster" Target="/ppt/notesMasters/notesMaster1.xml" Id="Rdcd425b7b81949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4fe61eb9341c7" /><Relationship Type="http://schemas.openxmlformats.org/officeDocument/2006/relationships/notesMaster" Target="/ppt/notesMasters/notesMaster1.xml" Id="Rb0b6f9c23b3246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5b923fc41434f" /><Relationship Type="http://schemas.openxmlformats.org/officeDocument/2006/relationships/notesMaster" Target="/ppt/notesMasters/notesMaster1.xml" Id="Rc13ab8fd813241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fa778988544649" /><Relationship Type="http://schemas.openxmlformats.org/officeDocument/2006/relationships/notesMaster" Target="/ppt/notesMasters/notesMaster1.xml" Id="R7f8bed16f44b41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8fe2b0466b4901" /><Relationship Type="http://schemas.openxmlformats.org/officeDocument/2006/relationships/notesMaster" Target="/ppt/notesMasters/notesMaster1.xml" Id="R0fcb111209e14f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7ace6bf0cc4047" /><Relationship Type="http://schemas.openxmlformats.org/officeDocument/2006/relationships/notesMaster" Target="/ppt/notesMasters/notesMaster1.xml" Id="Ref61bef5a13f4f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69859420f14da2" /><Relationship Type="http://schemas.openxmlformats.org/officeDocument/2006/relationships/notesMaster" Target="/ppt/notesMasters/notesMaster1.xml" Id="R56dfe1ec5daf4c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6d1c95824c400a" /><Relationship Type="http://schemas.openxmlformats.org/officeDocument/2006/relationships/notesMaster" Target="/ppt/notesMasters/notesMaster1.xml" Id="R53169e03008444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c79204d46242ed" /><Relationship Type="http://schemas.openxmlformats.org/officeDocument/2006/relationships/notesMaster" Target="/ppt/notesMasters/notesMaster1.xml" Id="Ra8b2d503c0e44e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fc862097fa40e1" /><Relationship Type="http://schemas.openxmlformats.org/officeDocument/2006/relationships/notesMaster" Target="/ppt/notesMasters/notesMaster1.xml" Id="R6f2cee07a45c42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dc3072fc8e49ca" /><Relationship Type="http://schemas.openxmlformats.org/officeDocument/2006/relationships/notesMaster" Target="/ppt/notesMasters/notesMaster1.xml" Id="R2b3461b1a4e244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f3c6c4c4234cfe" /><Relationship Type="http://schemas.openxmlformats.org/officeDocument/2006/relationships/notesMaster" Target="/ppt/notesMasters/notesMaster1.xml" Id="Rdc6af00c97d14e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3fcfc449c54cc4" /><Relationship Type="http://schemas.openxmlformats.org/officeDocument/2006/relationships/notesMaster" Target="/ppt/notesMasters/notesMaster1.xml" Id="Ra4cf4af7e07641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2d9ffcaa82469e" /><Relationship Type="http://schemas.openxmlformats.org/officeDocument/2006/relationships/notesMaster" Target="/ppt/notesMasters/notesMaster1.xml" Id="R7155336b455841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4cfffef1b4493d" /><Relationship Type="http://schemas.openxmlformats.org/officeDocument/2006/relationships/notesMaster" Target="/ppt/notesMasters/notesMaster1.xml" Id="Rf225c9b021ec4b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c643b08eb245a6" /><Relationship Type="http://schemas.openxmlformats.org/officeDocument/2006/relationships/notesMaster" Target="/ppt/notesMasters/notesMaster1.xml" Id="R004a47fe96424e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d86d810e88244de" /><Relationship Type="http://schemas.openxmlformats.org/officeDocument/2006/relationships/notesMaster" Target="/ppt/notesMasters/notesMaster1.xml" Id="Rce0a0a8f8de649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f566b2a8ae4770" /><Relationship Type="http://schemas.openxmlformats.org/officeDocument/2006/relationships/notesMaster" Target="/ppt/notesMasters/notesMaster1.xml" Id="R8ddf812386e1408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7bcc855af440cc" /><Relationship Type="http://schemas.openxmlformats.org/officeDocument/2006/relationships/notesMaster" Target="/ppt/notesMasters/notesMaster1.xml" Id="R6aaf678ed32546c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cb80a4dd5f4b51" /><Relationship Type="http://schemas.openxmlformats.org/officeDocument/2006/relationships/notesMaster" Target="/ppt/notesMasters/notesMaster1.xml" Id="R4169b46937ed46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cfb445782e4d40" /><Relationship Type="http://schemas.openxmlformats.org/officeDocument/2006/relationships/notesMaster" Target="/ppt/notesMasters/notesMaster1.xml" Id="Rd8386817cda2444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09bc9c713f4e0c" /><Relationship Type="http://schemas.openxmlformats.org/officeDocument/2006/relationships/notesMaster" Target="/ppt/notesMasters/notesMaster1.xml" Id="R244e3d6674a44b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44feeef38c4c4a" /><Relationship Type="http://schemas.openxmlformats.org/officeDocument/2006/relationships/notesMaster" Target="/ppt/notesMasters/notesMaster1.xml" Id="R7e597d74a12f486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1d6e983c73d45e1" /><Relationship Type="http://schemas.openxmlformats.org/officeDocument/2006/relationships/notesMaster" Target="/ppt/notesMasters/notesMaster1.xml" Id="Rc396b54de89e4d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cc227fd4802474b" /><Relationship Type="http://schemas.openxmlformats.org/officeDocument/2006/relationships/notesMaster" Target="/ppt/notesMasters/notesMaster1.xml" Id="R00d3dc13136544c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39bae886b348ed" /><Relationship Type="http://schemas.openxmlformats.org/officeDocument/2006/relationships/notesMaster" Target="/ppt/notesMasters/notesMaster1.xml" Id="Re566eff51e93477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80f670103f44370" /><Relationship Type="http://schemas.openxmlformats.org/officeDocument/2006/relationships/notesMaster" Target="/ppt/notesMasters/notesMaster1.xml" Id="R81146b35ea064ac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b1eaf04a1524cea" /><Relationship Type="http://schemas.openxmlformats.org/officeDocument/2006/relationships/notesMaster" Target="/ppt/notesMasters/notesMaster1.xml" Id="R81f6fa81f9e640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7cdadbb788e453b" /><Relationship Type="http://schemas.openxmlformats.org/officeDocument/2006/relationships/notesMaster" Target="/ppt/notesMasters/notesMaster1.xml" Id="R625f0160b20f44b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5e802f22af84447" /><Relationship Type="http://schemas.openxmlformats.org/officeDocument/2006/relationships/notesMaster" Target="/ppt/notesMasters/notesMaster1.xml" Id="Rdf7fba30f629401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bd18e8550df4802" /><Relationship Type="http://schemas.openxmlformats.org/officeDocument/2006/relationships/notesMaster" Target="/ppt/notesMasters/notesMaster1.xml" Id="Rcd61279d44b5427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937667ef24493e" /><Relationship Type="http://schemas.openxmlformats.org/officeDocument/2006/relationships/notesMaster" Target="/ppt/notesMasters/notesMaster1.xml" Id="R92a6804a65a344b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47502a3d144ce3" /><Relationship Type="http://schemas.openxmlformats.org/officeDocument/2006/relationships/notesMaster" Target="/ppt/notesMasters/notesMaster1.xml" Id="Raaa8359ed7ae4be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571c13ec0b945b1" /><Relationship Type="http://schemas.openxmlformats.org/officeDocument/2006/relationships/notesMaster" Target="/ppt/notesMasters/notesMaster1.xml" Id="Rc04922c7add443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computations and retained evidence: capstone-checks/dataset_part_2.csv (90 API/reference records), Spacex.csv (101 SQL records), spacex_launch_geo.csv and spacex_launch_dash.csv (56 records), remaining_checks.py, checks.py, SQL queries and results in course-repairs/capstone-sql-ten-results.json. This analysis uses historical course snapshots rather than current launch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80e1b5ff546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88fa5564742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9046c93b545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84b5af41142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f831f03dd4b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3ca1715d041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F70FA-5D89-47CC-BD26-F5C4660F0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5D6065-82AD-40C8-B9D5-322AA5B21C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600DF3-C2DB-474C-834F-62FE272AB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D3E5F8-9239-4F20-A01F-D98EEE972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0BE0B6-E8A2-4499-9775-0E9092A11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A0FAAA-9574-4C66-9309-E38898044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1C8F6D-235B-48AB-8A41-7C7E046C61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9F98C7-5EA8-43E4-8F5B-2B18066B1E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9070A1-1CDC-470F-955B-851128012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B1E073-25CB-4680-9480-585AEBE4C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8fd5ddece4eda" /><Relationship Type="http://schemas.openxmlformats.org/officeDocument/2006/relationships/slideLayout" Target="/ppt/slideLayouts/slideLayout1.xml" Id="R437cb227e6e5450c" /><Relationship Type="http://schemas.openxmlformats.org/officeDocument/2006/relationships/slideLayout" Target="/ppt/slideLayouts/slideLayout2.xml" Id="Re413c704457f4e49" /><Relationship Type="http://schemas.openxmlformats.org/officeDocument/2006/relationships/slideLayout" Target="/ppt/slideLayouts/slideLayout3.xml" Id="R3c24f1a8d98c40d6" /><Relationship Type="http://schemas.openxmlformats.org/officeDocument/2006/relationships/slideLayout" Target="/ppt/slideLayouts/slideLayout4.xml" Id="R808a6d1c841041c0" /><Relationship Type="http://schemas.openxmlformats.org/officeDocument/2006/relationships/slideLayout" Target="/ppt/slideLayouts/slideLayout5.xml" Id="R129e42fb204d4b73" /><Relationship Type="http://schemas.openxmlformats.org/officeDocument/2006/relationships/slideLayout" Target="/ppt/slideLayouts/slideLayout6.xml" Id="Rf45abbe31f0041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7cb227e6e5450c"/>
    <p:sldLayoutId xmlns:r="http://schemas.openxmlformats.org/officeDocument/2006/relationships" id="2147483650" r:id="Re413c704457f4e49"/>
    <p:sldLayoutId xmlns:r="http://schemas.openxmlformats.org/officeDocument/2006/relationships" id="2147483651" r:id="R3c24f1a8d98c40d6"/>
    <p:sldLayoutId xmlns:r="http://schemas.openxmlformats.org/officeDocument/2006/relationships" id="2147483652" r:id="R808a6d1c841041c0"/>
    <p:sldLayoutId xmlns:r="http://schemas.openxmlformats.org/officeDocument/2006/relationships" id="2147483653" r:id="R129e42fb204d4b73"/>
    <p:sldLayoutId xmlns:r="http://schemas.openxmlformats.org/officeDocument/2006/relationships" id="2147483654" r:id="Rf45abbe31f0041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ee240ce464231" /><Relationship Type="http://schemas.openxmlformats.org/officeDocument/2006/relationships/notesSlide" Target="/ppt/notesSlides/notesSlide1.xml" Id="Rd00ef56637c4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ec20238aa42ef" /><Relationship Type="http://schemas.openxmlformats.org/officeDocument/2006/relationships/notesSlide" Target="/ppt/notesSlides/notesSlide2.xml" Id="R300d807a628c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0cf41adb3494b" /><Relationship Type="http://schemas.openxmlformats.org/officeDocument/2006/relationships/notesSlide" Target="/ppt/notesSlides/notesSlide3.xml" Id="R670e06f6b84444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dfb77b9074bed" /><Relationship Type="http://schemas.openxmlformats.org/officeDocument/2006/relationships/notesSlide" Target="/ppt/notesSlides/notesSlide4.xml" Id="R9e959b949a3840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18525b0a945c4" /><Relationship Type="http://schemas.openxmlformats.org/officeDocument/2006/relationships/notesSlide" Target="/ppt/notesSlides/notesSlide5.xml" Id="Ra307e60d470241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07636fa214cd8" /><Relationship Type="http://schemas.openxmlformats.org/officeDocument/2006/relationships/notesSlide" Target="/ppt/notesSlides/notesSlide6.xml" Id="R5dfb3c4292f64c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3bbd744334e98" /><Relationship Type="http://schemas.openxmlformats.org/officeDocument/2006/relationships/notesSlide" Target="/ppt/notesSlides/notesSlide7.xml" Id="Rfec197c105e047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f6fc6c7fb44762" /><Relationship Type="http://schemas.openxmlformats.org/officeDocument/2006/relationships/chart" Target="/ppt/slides/charts/chart1.xml" Id="R00cd1a2fae9d4cc6" /><Relationship Type="http://schemas.openxmlformats.org/officeDocument/2006/relationships/notesSlide" Target="/ppt/notesSlides/notesSlide8.xml" Id="R9222d3abdf2b44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658ed7a6649f5" /><Relationship Type="http://schemas.openxmlformats.org/officeDocument/2006/relationships/chart" Target="/ppt/slides/charts/chart2.xml" Id="R8f98e289cb8a485e" /><Relationship Type="http://schemas.openxmlformats.org/officeDocument/2006/relationships/notesSlide" Target="/ppt/notesSlides/notesSlide9.xml" Id="R9a01fdfd1b0d43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b766b35474e57" /><Relationship Type="http://schemas.openxmlformats.org/officeDocument/2006/relationships/chart" Target="/ppt/slides/charts/chart3.xml" Id="R0433b7728d8e44e9" /><Relationship Type="http://schemas.openxmlformats.org/officeDocument/2006/relationships/notesSlide" Target="/ppt/notesSlides/notesSlide10.xml" Id="R2c7e9349888947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7bc4c344243c7" /><Relationship Type="http://schemas.openxmlformats.org/officeDocument/2006/relationships/chart" Target="/ppt/slides/charts/chart4.xml" Id="R7760934ad1974514" /><Relationship Type="http://schemas.openxmlformats.org/officeDocument/2006/relationships/notesSlide" Target="/ppt/notesSlides/notesSlide11.xml" Id="Rfb34ffab745445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85b508a2a406b" /><Relationship Type="http://schemas.openxmlformats.org/officeDocument/2006/relationships/chart" Target="/ppt/slides/charts/chart5.xml" Id="R5e91e91f811248a0" /><Relationship Type="http://schemas.openxmlformats.org/officeDocument/2006/relationships/notesSlide" Target="/ppt/notesSlides/notesSlide12.xml" Id="R3ebdd73b46604f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5bd84758842a4" /><Relationship Type="http://schemas.openxmlformats.org/officeDocument/2006/relationships/chart" Target="/ppt/slides/charts/chart6.xml" Id="Re2ec6b8d963e484e" /><Relationship Type="http://schemas.openxmlformats.org/officeDocument/2006/relationships/notesSlide" Target="/ppt/notesSlides/notesSlide13.xml" Id="R4b90e984e4ba41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42ed420384d84" /><Relationship Type="http://schemas.openxmlformats.org/officeDocument/2006/relationships/notesSlide" Target="/ppt/notesSlides/notesSlide14.xml" Id="R456b5182b87140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6766d58c24a77" /><Relationship Type="http://schemas.openxmlformats.org/officeDocument/2006/relationships/notesSlide" Target="/ppt/notesSlides/notesSlide15.xml" Id="R89347e8659a340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6b66b326a4d9c" /><Relationship Type="http://schemas.openxmlformats.org/officeDocument/2006/relationships/notesSlide" Target="/ppt/notesSlides/notesSlide16.xml" Id="R579d6a62c44147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0a561ed0446ee" /><Relationship Type="http://schemas.openxmlformats.org/officeDocument/2006/relationships/notesSlide" Target="/ppt/notesSlides/notesSlide17.xml" Id="R8361aadb4e2746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f5deb12d04994" /><Relationship Type="http://schemas.openxmlformats.org/officeDocument/2006/relationships/notesSlide" Target="/ppt/notesSlides/notesSlide18.xml" Id="R0856fb7eff714a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644ab437b475e" /><Relationship Type="http://schemas.openxmlformats.org/officeDocument/2006/relationships/notesSlide" Target="/ppt/notesSlides/notesSlide19.xml" Id="Rb11a522dc3b745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4636b33524e1c" /><Relationship Type="http://schemas.openxmlformats.org/officeDocument/2006/relationships/notesSlide" Target="/ppt/notesSlides/notesSlide20.xml" Id="Rfa97dac9d5b241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801d3c48e42f8" /><Relationship Type="http://schemas.openxmlformats.org/officeDocument/2006/relationships/notesSlide" Target="/ppt/notesSlides/notesSlide21.xml" Id="Ra973fc56e6244a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649cb94cc4a88" /><Relationship Type="http://schemas.openxmlformats.org/officeDocument/2006/relationships/notesSlide" Target="/ppt/notesSlides/notesSlide22.xml" Id="R7d84caaa937c44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7cbf3f1e3400d" /><Relationship Type="http://schemas.openxmlformats.org/officeDocument/2006/relationships/notesSlide" Target="/ppt/notesSlides/notesSlide23.xml" Id="R2b3691d8063e4f4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fcfc8d9274d3e" /><Relationship Type="http://schemas.openxmlformats.org/officeDocument/2006/relationships/notesSlide" Target="/ppt/notesSlides/notesSlide24.xml" Id="Rd82d5b8a016743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a19d6454f4c2b" /><Relationship Type="http://schemas.openxmlformats.org/officeDocument/2006/relationships/notesSlide" Target="/ppt/notesSlides/notesSlide25.xml" Id="R856f0048c13c4f1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4720d5c4e4dad" /><Relationship Type="http://schemas.openxmlformats.org/officeDocument/2006/relationships/notesSlide" Target="/ppt/notesSlides/notesSlide26.xml" Id="R785ba3c8567f4f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4396442ed48ee" /><Relationship Type="http://schemas.openxmlformats.org/officeDocument/2006/relationships/notesSlide" Target="/ppt/notesSlides/notesSlide27.xml" Id="Rffde5ebda51049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d5ec551de426c" /><Relationship Type="http://schemas.openxmlformats.org/officeDocument/2006/relationships/image" Target="/ppt/media/image.jpeg" Id="R3f9e63b5d4af471c" /><Relationship Type="http://schemas.openxmlformats.org/officeDocument/2006/relationships/notesSlide" Target="/ppt/notesSlides/notesSlide28.xml" Id="Ra08e6b356faa4e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fc4bc86a649c6" /><Relationship Type="http://schemas.openxmlformats.org/officeDocument/2006/relationships/image" Target="/ppt/media/image2.jpeg" Id="Rc0d3fbe5b85044ab" /><Relationship Type="http://schemas.openxmlformats.org/officeDocument/2006/relationships/notesSlide" Target="/ppt/notesSlides/notesSlide29.xml" Id="R260d0309a6934b2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1481246b149b6" /><Relationship Type="http://schemas.openxmlformats.org/officeDocument/2006/relationships/notesSlide" Target="/ppt/notesSlides/notesSlide30.xml" Id="R3d4562edd2f64d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a0879715b4977" /><Relationship Type="http://schemas.openxmlformats.org/officeDocument/2006/relationships/notesSlide" Target="/ppt/notesSlides/notesSlide31.xml" Id="R10bf83dd629149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33c29a3d34543" /><Relationship Type="http://schemas.openxmlformats.org/officeDocument/2006/relationships/chart" Target="/ppt/slides/charts/chart7.xml" Id="R2b1482ccf04c4595" /><Relationship Type="http://schemas.openxmlformats.org/officeDocument/2006/relationships/notesSlide" Target="/ppt/notesSlides/notesSlide32.xml" Id="Rdae4257e759c4cc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07cf4d4ee49e5" /><Relationship Type="http://schemas.openxmlformats.org/officeDocument/2006/relationships/notesSlide" Target="/ppt/notesSlides/notesSlide33.xml" Id="R15d4898961c2482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4240cd2854721" /><Relationship Type="http://schemas.openxmlformats.org/officeDocument/2006/relationships/notesSlide" Target="/ppt/notesSlides/notesSlide34.xml" Id="R92c6187fd34740b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c792673ba4634" /><Relationship Type="http://schemas.openxmlformats.org/officeDocument/2006/relationships/notesSlide" Target="/ppt/notesSlides/notesSlide35.xml" Id="R54d1502c5e524ae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e2fecaadd400b" /><Relationship Type="http://schemas.openxmlformats.org/officeDocument/2006/relationships/notesSlide" Target="/ppt/notesSlides/notesSlide36.xml" Id="R4e7a88a690ca426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6838bbda9498c" /><Relationship Type="http://schemas.openxmlformats.org/officeDocument/2006/relationships/notesSlide" Target="/ppt/notesSlides/notesSlide37.xml" Id="Rbbcddc2837594ef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2925201b240b4" /><Relationship Type="http://schemas.openxmlformats.org/officeDocument/2006/relationships/notesSlide" Target="/ppt/notesSlides/notesSlide38.xml" Id="R986663ff8432407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4c0dadfca44e3" /><Relationship Type="http://schemas.openxmlformats.org/officeDocument/2006/relationships/notesSlide" Target="/ppt/notesSlides/notesSlide39.xml" Id="Rb02b7eb53f2145a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c3ea7b3134ac5" /><Relationship Type="http://schemas.openxmlformats.org/officeDocument/2006/relationships/notesSlide" Target="/ppt/notesSlides/notesSlide40.xml" Id="R73b050b17f8945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Other label</c:v>
          </c:tx>
          <c:spPr>
            <a:solidFill xmlns:a="http://schemas.openxmlformats.org/drawingml/2006/main">
              <a:srgbClr val="B94735"/>
            </a:solidFill>
          </c:spPr>
          <c:marker>
            <c:symbol val="x"/>
            <c:size val="6"/>
            <c:spPr>
              <a:solidFill xmlns:a="http://schemas.openxmlformats.org/drawingml/2006/main">
                <a:srgbClr val="B94735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1</c:v>
                </c:pt>
                <c:pt idx="20">
                  <c:v>2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3</c:v>
                </c:pt>
                <c:pt idx="28">
                  <c:v>1</c:v>
                </c:pt>
                <c:pt idx="29">
                  <c:v>3</c:v>
                </c:pt>
              </c:numCache>
            </c:numRef>
          </c:yVal>
        </c:ser>
        <c:ser>
          <c:idx val="1"/>
          <c:order val="1"/>
          <c:tx>
            <c:v>Positive label</c:v>
          </c:tx>
          <c:spPr>
            <a:solidFill xmlns:a="http://schemas.openxmlformats.org/drawingml/2006/main">
              <a:srgbClr val="18857C"/>
            </a:solidFill>
          </c:spPr>
          <c:marker>
            <c:symbol val="circle"/>
            <c:size val="6"/>
            <c:spPr>
              <a:solidFill xmlns:a="http://schemas.openxmlformats.org/drawingml/2006/main">
                <a:srgbClr val="18857C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2</c:v>
                </c:pt>
                <c:pt idx="16">
                  <c:v>3</c:v>
                </c:pt>
                <c:pt idx="17">
                  <c:v>2</c:v>
                </c:pt>
                <c:pt idx="18">
                  <c:v>3</c:v>
                </c:pt>
                <c:pt idx="19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1</c:v>
                </c:pt>
                <c:pt idx="23">
                  <c:v>2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3</c:v>
                </c:pt>
                <c:pt idx="28">
                  <c:v>1</c:v>
                </c:pt>
                <c:pt idx="29">
                  <c:v>2</c:v>
                </c:pt>
                <c:pt idx="30">
                  <c:v>1</c:v>
                </c:pt>
                <c:pt idx="31">
                  <c:v>1</c:v>
                </c:pt>
                <c:pt idx="32">
                  <c:v>2</c:v>
                </c:pt>
                <c:pt idx="33">
                  <c:v>3</c:v>
                </c:pt>
                <c:pt idx="34">
                  <c:v>2</c:v>
                </c:pt>
                <c:pt idx="35">
                  <c:v>2</c:v>
                </c:pt>
                <c:pt idx="36">
                  <c:v>3</c:v>
                </c:pt>
                <c:pt idx="37">
                  <c:v>1</c:v>
                </c:pt>
                <c:pt idx="38">
                  <c:v>1</c:v>
                </c:pt>
                <c:pt idx="39">
                  <c:v>2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3</c:v>
                </c:pt>
                <c:pt idx="48">
                  <c:v>3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Category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Other label</c:v>
          </c:tx>
          <c:spPr>
            <a:solidFill xmlns:a="http://schemas.openxmlformats.org/drawingml/2006/main">
              <a:srgbClr val="B94735"/>
            </a:solidFill>
          </c:spPr>
          <c:marker>
            <c:symbol val="x"/>
            <c:size val="6"/>
            <c:spPr>
              <a:solidFill xmlns:a="http://schemas.openxmlformats.org/drawingml/2006/main">
                <a:srgbClr val="B94735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Data'!$A$2:$A$31</c:f>
              <c:numCache>
                <c:formatCode>General</c:formatCode>
                <c:ptCount val="30"/>
                <c:pt idx="0">
                  <c:v>6104.95941176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1</c:v>
                </c:pt>
                <c:pt idx="20">
                  <c:v>2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3</c:v>
                </c:pt>
                <c:pt idx="28">
                  <c:v>1</c:v>
                </c:pt>
                <c:pt idx="29">
                  <c:v>3</c:v>
                </c:pt>
              </c:numCache>
            </c:numRef>
          </c:yVal>
        </c:ser>
        <c:ser>
          <c:idx val="1"/>
          <c:order val="1"/>
          <c:tx>
            <c:v>Positive label</c:v>
          </c:tx>
          <c:spPr>
            <a:solidFill xmlns:a="http://schemas.openxmlformats.org/drawingml/2006/main">
              <a:srgbClr val="18857C"/>
            </a:solidFill>
          </c:spPr>
          <c:marker>
            <c:symbol val="circle"/>
            <c:size val="6"/>
            <c:spPr>
              <a:solidFill xmlns:a="http://schemas.openxmlformats.org/drawingml/2006/main">
                <a:srgbClr val="18857C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2</c:v>
                </c:pt>
                <c:pt idx="16">
                  <c:v>3</c:v>
                </c:pt>
                <c:pt idx="17">
                  <c:v>2</c:v>
                </c:pt>
                <c:pt idx="18">
                  <c:v>3</c:v>
                </c:pt>
                <c:pt idx="19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1</c:v>
                </c:pt>
                <c:pt idx="23">
                  <c:v>2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3</c:v>
                </c:pt>
                <c:pt idx="28">
                  <c:v>1</c:v>
                </c:pt>
                <c:pt idx="29">
                  <c:v>2</c:v>
                </c:pt>
                <c:pt idx="30">
                  <c:v>1</c:v>
                </c:pt>
                <c:pt idx="31">
                  <c:v>1</c:v>
                </c:pt>
                <c:pt idx="32">
                  <c:v>2</c:v>
                </c:pt>
                <c:pt idx="33">
                  <c:v>3</c:v>
                </c:pt>
                <c:pt idx="34">
                  <c:v>2</c:v>
                </c:pt>
                <c:pt idx="35">
                  <c:v>2</c:v>
                </c:pt>
                <c:pt idx="36">
                  <c:v>3</c:v>
                </c:pt>
                <c:pt idx="37">
                  <c:v>1</c:v>
                </c:pt>
                <c:pt idx="38">
                  <c:v>1</c:v>
                </c:pt>
                <c:pt idx="39">
                  <c:v>2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3</c:v>
                </c:pt>
                <c:pt idx="48">
                  <c:v>3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Category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Positive fraction</c:v>
          </c:tx>
          <c:spPr>
            <a:solidFill xmlns:a="http://schemas.openxmlformats.org/drawingml/2006/main">
              <a:srgbClr val="18857C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Data'!$A$2:$A$12</c:f>
              <c:strCache>
                <c:ptCount val="11"/>
                <c:pt idx="0">
                  <c:v>ES-L1</c:v>
                </c:pt>
                <c:pt idx="1">
                  <c:v>GEO</c:v>
                </c:pt>
                <c:pt idx="2">
                  <c:v>GTO</c:v>
                </c:pt>
                <c:pt idx="3">
                  <c:v>HEO</c:v>
                </c:pt>
                <c:pt idx="4">
                  <c:v>ISS</c:v>
                </c:pt>
                <c:pt idx="5">
                  <c:v>LEO</c:v>
                </c:pt>
                <c:pt idx="6">
                  <c:v>MEO</c:v>
                </c:pt>
                <c:pt idx="7">
                  <c:v>PO</c:v>
                </c:pt>
                <c:pt idx="8">
                  <c:v>SO</c:v>
                </c:pt>
                <c:pt idx="9">
                  <c:v>SSO</c:v>
                </c:pt>
                <c:pt idx="10">
                  <c:v>VLEO</c:v>
                </c:pt>
              </c:strCache>
            </c:strRef>
          </c:cat>
          <c:val>
            <c:numRef>
              <c:f>'Chart Data'!$B$2:$B$12</c:f>
              <c:numCache>
                <c:formatCode>0%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0.518518518519</c:v>
                </c:pt>
                <c:pt idx="3">
                  <c:v>1</c:v>
                </c:pt>
                <c:pt idx="4">
                  <c:v>0.619047619048</c:v>
                </c:pt>
                <c:pt idx="5">
                  <c:v>0.714285714286</c:v>
                </c:pt>
                <c:pt idx="6">
                  <c:v>0.666666666667</c:v>
                </c:pt>
                <c:pt idx="7">
                  <c:v>0.666666666667</c:v>
                </c:pt>
                <c:pt idx="8">
                  <c:v>0</c:v>
                </c:pt>
                <c:pt idx="9">
                  <c:v>1</c:v>
                </c:pt>
                <c:pt idx="10">
                  <c:v>0.857142857143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Other label</c:v>
          </c:tx>
          <c:spPr>
            <a:solidFill xmlns:a="http://schemas.openxmlformats.org/drawingml/2006/main">
              <a:srgbClr val="B94735"/>
            </a:solidFill>
          </c:spPr>
          <c:marker>
            <c:symbol val="x"/>
            <c:size val="6"/>
            <c:spPr>
              <a:solidFill xmlns:a="http://schemas.openxmlformats.org/drawingml/2006/main">
                <a:srgbClr val="B94735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4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3</c:v>
                </c:pt>
                <c:pt idx="21">
                  <c:v>2</c:v>
                </c:pt>
                <c:pt idx="22">
                  <c:v>4</c:v>
                </c:pt>
                <c:pt idx="23">
                  <c:v>2</c:v>
                </c:pt>
                <c:pt idx="24">
                  <c:v>2</c:v>
                </c:pt>
                <c:pt idx="25">
                  <c:v>8</c:v>
                </c:pt>
                <c:pt idx="26">
                  <c:v>4</c:v>
                </c:pt>
                <c:pt idx="27">
                  <c:v>10</c:v>
                </c:pt>
                <c:pt idx="28">
                  <c:v>9</c:v>
                </c:pt>
                <c:pt idx="29">
                  <c:v>9</c:v>
                </c:pt>
              </c:numCache>
            </c:numRef>
          </c:yVal>
        </c:ser>
        <c:ser>
          <c:idx val="1"/>
          <c:order val="1"/>
          <c:tx>
            <c:v>Positive label</c:v>
          </c:tx>
          <c:spPr>
            <a:solidFill xmlns:a="http://schemas.openxmlformats.org/drawingml/2006/main">
              <a:srgbClr val="18857C"/>
            </a:solidFill>
          </c:spPr>
          <c:marker>
            <c:symbol val="circle"/>
            <c:size val="6"/>
            <c:spPr>
              <a:solidFill xmlns:a="http://schemas.openxmlformats.org/drawingml/2006/main">
                <a:srgbClr val="18857C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4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3</c:v>
                </c:pt>
                <c:pt idx="16">
                  <c:v>2</c:v>
                </c:pt>
                <c:pt idx="17">
                  <c:v>6</c:v>
                </c:pt>
                <c:pt idx="18">
                  <c:v>1</c:v>
                </c:pt>
                <c:pt idx="19">
                  <c:v>3</c:v>
                </c:pt>
                <c:pt idx="20">
                  <c:v>4</c:v>
                </c:pt>
                <c:pt idx="21">
                  <c:v>4</c:v>
                </c:pt>
                <c:pt idx="22">
                  <c:v>2</c:v>
                </c:pt>
                <c:pt idx="23">
                  <c:v>3</c:v>
                </c:pt>
                <c:pt idx="24">
                  <c:v>1</c:v>
                </c:pt>
                <c:pt idx="25">
                  <c:v>4</c:v>
                </c:pt>
                <c:pt idx="26">
                  <c:v>7</c:v>
                </c:pt>
                <c:pt idx="27">
                  <c:v>4</c:v>
                </c:pt>
                <c:pt idx="28">
                  <c:v>4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6</c:v>
                </c:pt>
                <c:pt idx="33">
                  <c:v>4</c:v>
                </c:pt>
                <c:pt idx="34">
                  <c:v>6</c:v>
                </c:pt>
                <c:pt idx="35">
                  <c:v>3</c:v>
                </c:pt>
                <c:pt idx="36">
                  <c:v>2</c:v>
                </c:pt>
                <c:pt idx="37">
                  <c:v>2</c:v>
                </c:pt>
                <c:pt idx="38">
                  <c:v>9</c:v>
                </c:pt>
                <c:pt idx="39">
                  <c:v>6</c:v>
                </c:pt>
                <c:pt idx="40">
                  <c:v>2</c:v>
                </c:pt>
                <c:pt idx="41">
                  <c:v>9</c:v>
                </c:pt>
                <c:pt idx="42">
                  <c:v>2</c:v>
                </c:pt>
                <c:pt idx="43">
                  <c:v>4</c:v>
                </c:pt>
                <c:pt idx="44">
                  <c:v>9</c:v>
                </c:pt>
                <c:pt idx="45">
                  <c:v>9</c:v>
                </c:pt>
                <c:pt idx="46">
                  <c:v>2</c:v>
                </c:pt>
                <c:pt idx="47">
                  <c:v>9</c:v>
                </c:pt>
                <c:pt idx="48">
                  <c:v>2</c:v>
                </c:pt>
                <c:pt idx="49">
                  <c:v>9</c:v>
                </c:pt>
                <c:pt idx="50">
                  <c:v>9</c:v>
                </c:pt>
                <c:pt idx="51">
                  <c:v>8</c:v>
                </c:pt>
                <c:pt idx="52">
                  <c:v>11</c:v>
                </c:pt>
                <c:pt idx="53">
                  <c:v>9</c:v>
                </c:pt>
                <c:pt idx="54">
                  <c:v>6</c:v>
                </c:pt>
                <c:pt idx="55">
                  <c:v>9</c:v>
                </c:pt>
                <c:pt idx="56">
                  <c:v>9</c:v>
                </c:pt>
                <c:pt idx="57">
                  <c:v>9</c:v>
                </c:pt>
                <c:pt idx="58">
                  <c:v>9</c:v>
                </c:pt>
                <c:pt idx="59">
                  <c:v>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Category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Other label</c:v>
          </c:tx>
          <c:spPr>
            <a:solidFill xmlns:a="http://schemas.openxmlformats.org/drawingml/2006/main">
              <a:srgbClr val="B94735"/>
            </a:solidFill>
          </c:spPr>
          <c:marker>
            <c:symbol val="x"/>
            <c:size val="6"/>
            <c:spPr>
              <a:solidFill xmlns:a="http://schemas.openxmlformats.org/drawingml/2006/main">
                <a:srgbClr val="B94735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Data'!$A$2:$A$31</c:f>
              <c:numCache>
                <c:formatCode>General</c:formatCode>
                <c:ptCount val="30"/>
                <c:pt idx="0">
                  <c:v>6104.95941176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4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3</c:v>
                </c:pt>
                <c:pt idx="21">
                  <c:v>2</c:v>
                </c:pt>
                <c:pt idx="22">
                  <c:v>4</c:v>
                </c:pt>
                <c:pt idx="23">
                  <c:v>2</c:v>
                </c:pt>
                <c:pt idx="24">
                  <c:v>2</c:v>
                </c:pt>
                <c:pt idx="25">
                  <c:v>8</c:v>
                </c:pt>
                <c:pt idx="26">
                  <c:v>4</c:v>
                </c:pt>
                <c:pt idx="27">
                  <c:v>10</c:v>
                </c:pt>
                <c:pt idx="28">
                  <c:v>9</c:v>
                </c:pt>
                <c:pt idx="29">
                  <c:v>9</c:v>
                </c:pt>
              </c:numCache>
            </c:numRef>
          </c:yVal>
        </c:ser>
        <c:ser>
          <c:idx val="1"/>
          <c:order val="1"/>
          <c:tx>
            <c:v>Positive label</c:v>
          </c:tx>
          <c:spPr>
            <a:solidFill xmlns:a="http://schemas.openxmlformats.org/drawingml/2006/main">
              <a:srgbClr val="18857C"/>
            </a:solidFill>
          </c:spPr>
          <c:marker>
            <c:symbol val="circle"/>
            <c:size val="6"/>
            <c:spPr>
              <a:solidFill xmlns:a="http://schemas.openxmlformats.org/drawingml/2006/main">
                <a:srgbClr val="18857C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4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3</c:v>
                </c:pt>
                <c:pt idx="16">
                  <c:v>2</c:v>
                </c:pt>
                <c:pt idx="17">
                  <c:v>6</c:v>
                </c:pt>
                <c:pt idx="18">
                  <c:v>1</c:v>
                </c:pt>
                <c:pt idx="19">
                  <c:v>3</c:v>
                </c:pt>
                <c:pt idx="20">
                  <c:v>4</c:v>
                </c:pt>
                <c:pt idx="21">
                  <c:v>4</c:v>
                </c:pt>
                <c:pt idx="22">
                  <c:v>2</c:v>
                </c:pt>
                <c:pt idx="23">
                  <c:v>3</c:v>
                </c:pt>
                <c:pt idx="24">
                  <c:v>1</c:v>
                </c:pt>
                <c:pt idx="25">
                  <c:v>4</c:v>
                </c:pt>
                <c:pt idx="26">
                  <c:v>7</c:v>
                </c:pt>
                <c:pt idx="27">
                  <c:v>4</c:v>
                </c:pt>
                <c:pt idx="28">
                  <c:v>4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6</c:v>
                </c:pt>
                <c:pt idx="33">
                  <c:v>4</c:v>
                </c:pt>
                <c:pt idx="34">
                  <c:v>6</c:v>
                </c:pt>
                <c:pt idx="35">
                  <c:v>3</c:v>
                </c:pt>
                <c:pt idx="36">
                  <c:v>2</c:v>
                </c:pt>
                <c:pt idx="37">
                  <c:v>2</c:v>
                </c:pt>
                <c:pt idx="38">
                  <c:v>9</c:v>
                </c:pt>
                <c:pt idx="39">
                  <c:v>6</c:v>
                </c:pt>
                <c:pt idx="40">
                  <c:v>2</c:v>
                </c:pt>
                <c:pt idx="41">
                  <c:v>9</c:v>
                </c:pt>
                <c:pt idx="42">
                  <c:v>2</c:v>
                </c:pt>
                <c:pt idx="43">
                  <c:v>4</c:v>
                </c:pt>
                <c:pt idx="44">
                  <c:v>9</c:v>
                </c:pt>
                <c:pt idx="45">
                  <c:v>9</c:v>
                </c:pt>
                <c:pt idx="46">
                  <c:v>2</c:v>
                </c:pt>
                <c:pt idx="47">
                  <c:v>9</c:v>
                </c:pt>
                <c:pt idx="48">
                  <c:v>2</c:v>
                </c:pt>
                <c:pt idx="49">
                  <c:v>9</c:v>
                </c:pt>
                <c:pt idx="50">
                  <c:v>9</c:v>
                </c:pt>
                <c:pt idx="51">
                  <c:v>8</c:v>
                </c:pt>
                <c:pt idx="52">
                  <c:v>11</c:v>
                </c:pt>
                <c:pt idx="53">
                  <c:v>9</c:v>
                </c:pt>
                <c:pt idx="54">
                  <c:v>6</c:v>
                </c:pt>
                <c:pt idx="55">
                  <c:v>9</c:v>
                </c:pt>
                <c:pt idx="56">
                  <c:v>9</c:v>
                </c:pt>
                <c:pt idx="57">
                  <c:v>9</c:v>
                </c:pt>
                <c:pt idx="58">
                  <c:v>9</c:v>
                </c:pt>
                <c:pt idx="59">
                  <c:v>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Category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Positive fraction</c:v>
          </c:tx>
          <c:spPr>
            <a:ln xmlns:a="http://schemas.openxmlformats.org/drawingml/2006/main" w="28575">
              <a:solidFill>
                <a:srgbClr val="18857C"/>
              </a:solidFill>
            </a:ln>
          </c:spPr>
          <c:marker>
            <c:symbol val="circle"/>
            <c:size val="7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0.333333333333</c:v>
                </c:pt>
                <c:pt idx="4">
                  <c:v>0.333333333333</c:v>
                </c:pt>
                <c:pt idx="5">
                  <c:v>0.625</c:v>
                </c:pt>
                <c:pt idx="6">
                  <c:v>0.833333333333</c:v>
                </c:pt>
                <c:pt idx="7">
                  <c:v>0.611111111111</c:v>
                </c:pt>
                <c:pt idx="8">
                  <c:v>0.9</c:v>
                </c:pt>
                <c:pt idx="9">
                  <c:v>0.842105263158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Held-out accuracy</c:v>
          </c:tx>
          <c:spPr>
            <a:solidFill xmlns:a="http://schemas.openxmlformats.org/drawingml/2006/main">
              <a:srgbClr val="18857C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0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Logistic</c:v>
                </c:pt>
                <c:pt idx="1">
                  <c:v>SVM</c:v>
                </c:pt>
                <c:pt idx="2">
                  <c:v>Tree</c:v>
                </c:pt>
                <c:pt idx="3">
                  <c:v>KNN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0.833333333333</c:v>
                </c:pt>
                <c:pt idx="1">
                  <c:v>0.722222222222</c:v>
                </c:pt>
                <c:pt idx="2">
                  <c:v>0.777777777778</c:v>
                </c:pt>
                <c:pt idx="3">
                  <c:v>0.777777777778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14D69-CF3A-4BA8-9923-398C3068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Falcon 9 landing outcome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9F8B4-FDF6-4647-BACD-9D601E5A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Historical course data, reproducible queries and model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96F20-647D-4B27-978B-60AFDE2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Almat Biyazbayev</a:t>
            </a:r>
          </a:p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69537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BAA6-799F-44E7-85E2-361AF42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5CA9-90FA-4B51-B969-CE9B97AE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90-record API/reference cohort contains 60 positive landing labels (66.7%). The label includes successful ocean outcomes and must not be treated as a direct measure of recoverable booster reuse.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76FFC-104F-4319-94EB-5EB478C4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Logistic regression scores 15/18 on the held-out set. This small historical test does not establish future flight reliability or a launch-cost forecast.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CC3A9-DE52-47F8-871D-7424CE9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Separate 101-record SQL and 56-record map/dashboard cohorts answer their own questions. Keeping their denominators distinct prevents misleading comparisons.</a:t>
            </a:r>
          </a:p>
        </p:txBody>
      </p:sp>
    </p:spTree>
    <p:extLst>
      <p:ext uri="{BB962C8B-B14F-4D97-AF65-F5344CB8AC3E}">
        <p14:creationId xmlns:p14="http://schemas.microsoft.com/office/powerpoint/2010/main" val="1489054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C103B-945D-4E1D-9A55-77763AD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34ECA-1EAF-4D15-8177-A318C6E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Question: which recorded launch characteristics are associated with the course landing label, and how well can simple classifiers predict it within this historical dataset?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A6490-A102-4594-B14D-01062982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workflow combines data preparation, exploratory plots, ten SQL queries, an interactive Folium map, a Dash dashboard and a held-out classification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6BAE7-4441-4E42-89BC-8EEF35A7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This is an educational observational analysis. Mission success, a successful landing and physical recovery for reuse are different outcomes.</a:t>
            </a:r>
          </a:p>
        </p:txBody>
      </p:sp>
    </p:spTree>
    <p:extLst>
      <p:ext uri="{BB962C8B-B14F-4D97-AF65-F5344CB8AC3E}">
        <p14:creationId xmlns:p14="http://schemas.microsoft.com/office/powerpoint/2010/main" val="811558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73C01-920C-4B07-8B83-BA7EA3B9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Data collection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36089-C20F-45D2-88FD-AF78B1B9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API collection: normalize the retained course JSON snapshot, restrict to single-core/single-payload Falcon 9 records through 13 November 2020, and cross-check the resulting 90 launches against the published reference CSV.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59F1D-0B4F-4A67-9A99-34F1345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live metadata endpoint returned non-JSON in the earlier collection. The recorded launch dates and reference data identify the Falcon 9 rocket ID. The analysis discloses this fallback rather than claiming a new live API extraction.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B09A6-DEB3-4E7C-B1B4-10FAE74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uses the supplied 101-record Spacex.csv. Mapping and dashboard use their supplied 56-record snapshots. These cohorts have different naming conventions and coverage.</a:t>
            </a:r>
          </a:p>
        </p:txBody>
      </p:sp>
    </p:spTree>
    <p:extLst>
      <p:ext uri="{BB962C8B-B14F-4D97-AF65-F5344CB8AC3E}">
        <p14:creationId xmlns:p14="http://schemas.microsoft.com/office/powerpoint/2010/main" val="1214614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42E-E9E9-4702-BCA4-31D595A6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Wrangling and label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4D9CC-FF8C-4020-90AB-1977535D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Replace missing PayloadMass values with the cohort mean and verify that none remain. Keep the 26 missing landing-pad values. The retained get_dummies default gives them an all-zero indicator block, which needs review before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B7404-92A6-455F-83D2-8A8DC16D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Class = 1 when Outcome starts with True; otherwise Class = 0. This yields 41 True ASDS + 14 True RTLS + 5 True Ocean = 60 positive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AE2CB-175E-48F1-A651-0C76616B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One-hot encode Orbit, LaunchSite, LandingPad and Serial. The resulting modelling matrix has 90 rows and 80 columns. Identify variables that could leak post-launch information before any deployment.</a:t>
            </a:r>
          </a:p>
        </p:txBody>
      </p:sp>
    </p:spTree>
    <p:extLst>
      <p:ext uri="{BB962C8B-B14F-4D97-AF65-F5344CB8AC3E}">
        <p14:creationId xmlns:p14="http://schemas.microsoft.com/office/powerpoint/2010/main" val="632776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CF79F-1FB8-425C-B2F2-1CCFECC8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Exploratory and interactive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B9A9D-BDE4-45D7-B35C-B83FA7C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Compare flight number and payload mass with launch site and orbit. Show both binary outcomes and group sizes, then examine the annual trend.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EA195-6544-4583-9F27-66D7B0F8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Execute all ten specified SQL tasks against the retained SQLite table and retain the query text next to its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1DDD8-A674-47DE-A7BD-3D8FD7F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Folium provides clustered outcome markers and a coastline-reference distance. Dash filters launch site and payload range and updates the success pie and payload scatter views.</a:t>
            </a:r>
          </a:p>
        </p:txBody>
      </p:sp>
    </p:spTree>
    <p:extLst>
      <p:ext uri="{BB962C8B-B14F-4D97-AF65-F5344CB8AC3E}">
        <p14:creationId xmlns:p14="http://schemas.microsoft.com/office/powerpoint/2010/main" val="491672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A590A-B5B9-4105-B61F-B80BA1BE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Predictive analysis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11B4A-7B44-4834-AE95-4D6BC21A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Split 90 records into 72 training and 18 test records with random_state = 2. Use five-fold GridSearchCV on the training set and compare logistic regression, SVM, decision tree and KNN.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F3803-96DD-4FB2-B9C7-5D8CECC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StandardScaler sits inside each estimator pipeline, so each cross-validation fit learns scaling from its own training fold. The same split and scoring metric support the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2D037-380B-4822-9E5C-1C0B4011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prior course-reference experiment uses a different 83-feature matrix and preprocessing path. Its scores are kept separate from the 80-feature pipeline results shown here.</a:t>
            </a:r>
          </a:p>
        </p:txBody>
      </p:sp>
    </p:spTree>
    <p:extLst>
      <p:ext uri="{BB962C8B-B14F-4D97-AF65-F5344CB8AC3E}">
        <p14:creationId xmlns:p14="http://schemas.microsoft.com/office/powerpoint/2010/main" val="1547016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11580-4306-4969-9BF2-2273B2D4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Flight number and launch site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49F48BD-85B5-464D-A3FB-725FB1D7733C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cd1a2fae9d4cc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050EE-B3A3-44AB-B314-85424A9F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Later launches contain more positive labels. Site and time are confounded.  1=CCAFS SLC 40; 2=VAFB SLC 4E; 3=KSC LC 39A</a:t>
            </a:r>
          </a:p>
        </p:txBody>
      </p:sp>
    </p:spTree>
    <p:extLst>
      <p:ext uri="{BB962C8B-B14F-4D97-AF65-F5344CB8AC3E}">
        <p14:creationId xmlns:p14="http://schemas.microsoft.com/office/powerpoint/2010/main" val="1583367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E4CB1-6912-407D-82BC-6179C701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Payload mass and launch site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D593D01-C5CC-45DD-B18B-7EAB15D9E5E9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98e289cb8a485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3974B-8049-4A77-A3D4-F393DBEA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Both labels occur across payload masses; the plot alone supplies no causal payload threshold.  1=CCAFS SLC 40; 2=VAFB SLC 4E; 3=KSC LC 39A</a:t>
            </a:r>
          </a:p>
        </p:txBody>
      </p:sp>
    </p:spTree>
    <p:extLst>
      <p:ext uri="{BB962C8B-B14F-4D97-AF65-F5344CB8AC3E}">
        <p14:creationId xmlns:p14="http://schemas.microsoft.com/office/powerpoint/2010/main" val="19793254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583FA-20CA-46F8-8508-B7190159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Landing-label rate by orbit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EBFB016-CE37-419B-A504-F8E8E8577430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33b7728d8e44e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B80E4-B8C7-42F2-BD73-F92AE326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Several orbit categories have only one observation. Rates from those groups are highly uncertain.</a:t>
            </a:r>
          </a:p>
        </p:txBody>
      </p:sp>
    </p:spTree>
    <p:extLst>
      <p:ext uri="{BB962C8B-B14F-4D97-AF65-F5344CB8AC3E}">
        <p14:creationId xmlns:p14="http://schemas.microsoft.com/office/powerpoint/2010/main" val="2135475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D0817-BF4F-4B23-B79A-BE2B5B0C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Flight number and orbit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FA39F7D7-2DCA-4E8E-9897-FC97067AD255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60934ad1974514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38D75-31B6-4EC0-B057-F8E83DD4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The orbit mix changes over time, so flight-number associations also reflect mission selection.  1=LEO; 2=ISS; 3=PO; 4=GTO; 5=ES-L1; 6=SSO; 7=HEO; 8=MEO; 9=VLEO; 10=SO; 11=GEO</a:t>
            </a:r>
          </a:p>
        </p:txBody>
      </p:sp>
    </p:spTree>
    <p:extLst>
      <p:ext uri="{BB962C8B-B14F-4D97-AF65-F5344CB8AC3E}">
        <p14:creationId xmlns:p14="http://schemas.microsoft.com/office/powerpoint/2010/main" val="505858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4A995-CD1E-407A-91AD-F9154B60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Payload mass and orbit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8E50996-6B9D-47C2-879B-D11444F45E51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91e91f811248a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7EB09-79D9-4815-8C97-DAA5957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Payload and orbit jointly describe missions; neither association establishes causation.  1=LEO; 2=ISS; 3=PO; 4=GTO; 5=ES-L1; 6=SSO; 7=HEO; 8=MEO; 9=VLEO; 10=SO; 11=GEO</a:t>
            </a:r>
          </a:p>
        </p:txBody>
      </p:sp>
    </p:spTree>
    <p:extLst>
      <p:ext uri="{BB962C8B-B14F-4D97-AF65-F5344CB8AC3E}">
        <p14:creationId xmlns:p14="http://schemas.microsoft.com/office/powerpoint/2010/main" val="1425056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333D7-6F06-4D92-991F-00EF5A29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Annual landing-label rate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51979415-0876-4A89-A331-9E6337E72B24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ec6b8d963e484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5835D-D29F-4892-B7B4-1F6BEA8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Historical 90-record cohort: 2017 15/18; 2018 11/18; 2019 9/10; 2020 16/19. Small early cohorts limit comparisons.</a:t>
            </a:r>
          </a:p>
        </p:txBody>
      </p:sp>
    </p:spTree>
    <p:extLst>
      <p:ext uri="{BB962C8B-B14F-4D97-AF65-F5344CB8AC3E}">
        <p14:creationId xmlns:p14="http://schemas.microsoft.com/office/powerpoint/2010/main" val="15770146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F759F-CD18-4CCF-94F4-DB219C37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1: Unique launch sites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32024-F015-4ADC-84CA-C028EF82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DISTINCT Launch_Site FROM SPACEXTBL ORDER BY Launch_Site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19F0B-DD76-4033-B8E6-1AE9236F91FB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Launch_Site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SLC-40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KSC LC-39A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VAFB SLC-4E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B9429-4C35-45B6-A087-AEF8C255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1939953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6CAB4-A909-4B70-9745-5323FAF9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2: Five CCA launch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20719-5217-48CE-96F4-677D33F1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Date, Booster_Version, Launch_Site, PAYLOAD_MASS__KG_ FROM SPACEXTBL WHERE Launch_Site LIKE 'CCA%' LIMIT 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77E66-4A44-4004-BB2F-28F94ED918CD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Booster_Version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Launch_Site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(kg)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2010-06-04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v1.0  B0003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2010-12-08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v1.0  B0004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2012-05-22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v1.0  B0005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525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2012-10-08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v1.0  B0006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2013-03-01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v1.0  B0007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677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866EF-AFDC-4D5B-B00F-770A8531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7447644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0283-5821-4C2C-B7D0-42BC9D5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3: NASA CRS payload mass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869CC-E31C-425F-8C22-44CA8C8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SUM(PAYLOAD_MASS__KG_) AS Total_kg FROM SPACEXTBL WHERE Customer='NASA (CRS)'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10F23-A354-4771-8670-C5D4660235F7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85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Total_kg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45596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701D3-FAF9-4DAA-A6C0-1BD4F580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2440126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77A4A-8DB5-425F-BC4A-B2780999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4: F9 v1.1 average payload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F6D2A-5564-4C3F-AEE5-258D219A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AVG(PAYLOAD_MASS__KG_) AS Average_kg FROM SPACEXTBL WHERE Booster_Version LIKE 'F9 v1.1%'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CB528-28C9-4D39-ABB8-0D0A9E60CB97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85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Average_kg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2534.667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104E2-10C3-4830-90A8-C6CF4981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6292327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367DB-B0E2-4646-BC0A-E1E83B8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5: First successful ground landing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C4634-2231-4ED5-A5C7-315FAB3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MIN(Date) AS First_date FROM SPACEXTBL WHERE Landing_Outcome='Success (ground pad)'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465DC-DFD2-467F-80B8-E88E6C8F733C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85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First_date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2015-12-22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C1CD3-EC87-431F-8D48-380F8E80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1985696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453F9-1064-4855-AD84-029B2C25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6: Drone-ship boosters, 4000-6000 kg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DEBA8-9EE2-4961-916C-AF117310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DISTINCT Booster_Version FROM SPACEXTBL WHERE Landing_Outcome='Success (drone ship)' AND PAYLOAD_MASS__KG_&gt;4000 AND PAYLOAD_MASS__KG_&lt;6000 ORDER BY Booster_Version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34D5A-E93C-4690-9C15-16A7D971A96D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Booster_Version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FT  B1021.2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FT  B1031.2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FT B1022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FT B1026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BFB39-6C98-44C9-A586-1819A379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5685300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B0CD9-9508-41C9-8155-278D6F8D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7: Mission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6BBB9-5BBB-454A-BA65-5CB4F53C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TRIM(Mission_Outcome) AS Mission_Outcome, COUNT(*) AS Missions FROM SPACEXTBL GROUP BY TRIM(Mission_Outcome) ORDER BY Missions DESC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2C9B2-F38F-457C-944D-04A7AFE03F5D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Mission_Outcome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Missions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99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Success (payload status unclear)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Failure (in flight)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3DDFD-CB39-4C68-913C-9ADE872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4550617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6E6AC-F451-4D85-A311-E68E93EF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8: Boosters with maximum payload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7EBA9-C55B-412E-8380-CBE3E2E0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Booster_Version, PAYLOAD_MASS__KG_ FROM SPACEXTBL WHERE PAYLOAD_MASS__KG_=(SELECT MAX(PAYLOAD_MASS__KG_) FROM SPACEXTBL) ORDER BY Booster_Version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BFC6F-E98E-4392-8DFC-813001AE5E82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Booster_Version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(kg)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B1048.4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B1048.5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B1049.4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B1049.5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B1049.7 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B1051.3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326A3-77EA-4926-9D1B-0235D07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4002301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F17D-879F-4CFF-9BE7-53FDC36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8: Boosters with maximum payload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057A-D4BE-4991-B352-84E9A2D8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Booster_Version, PAYLOAD_MASS__KG_ FROM SPACEXTBL WHERE PAYLOAD_MASS__KG_=(SELECT MAX(PAYLOAD_MASS__KG_) FROM SPACEXTBL) ORDER BY Booster_Version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F471F-650E-4827-AFA5-95929BC88EAC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Booster_Version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(kg)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B1051.4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B1051.6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B1056.4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B1058.3 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B1060.2 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B5 B1060.3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72E95-540B-46C8-991E-758ECD5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827951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BF265-2CDA-4AC7-BF53-0ECC0EDA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9: Drone-ship landing failures in 2015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450EE-AC70-4D22-82E6-00671B1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substr(Date,6,2) AS Month, Landing_Outcome, Booster_Version, Launch_Site FROM SPACEXTBL WHERE substr(Date,1,4)='2015' AND Landing_Outcome='Failure (drone ship)' ORDER BY Date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FA483-EEB0-4CDE-834B-44AFB9C63575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Landing_Outcome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Booster_Version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Launch_Site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Failure (drone ship)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v1.1 B1012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Failure (drone ship)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F9 v1.1 B1015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439B5-BE2F-43B2-860D-5D14C851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4078946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824EF-FB0C-43EB-8314-2593561E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10: Landing outcomes within date interval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471FA-89D8-4456-BFE4-3FC0E27F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Landing_Outcome, COUNT(*) AS Outcomes FROM SPACEXTBL WHERE Date BETWEEN '2010-06-04' AND '2017-03-20' GROUP BY Landing_Outcome ORDER BY Outcomes DESC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2E336-E2FC-4C82-B0B3-05CA0F01AF2E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Landing_Outcome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No attempt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Success (drone ship)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Failure (drone ship)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Success (ground pad)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Controlled (ocean)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Uncontrolled (ocean)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4EEBA-4893-4C2F-8F14-C2B7CD8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5337008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87FB5-082D-415C-8C34-AC515FAD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SQL 10: Landing outcomes within date interval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C3F2F-B993-44F2-A201-EF9B8E2F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 Landing_Outcome, COUNT(*) AS Outcomes FROM SPACEXTBL WHERE Date BETWEEN '2010-06-04' AND '2017-03-20' GROUP BY Landing_Outcome ORDER BY Outcomes DESC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C3144-0F5A-4C22-942F-D03EAE43C2CD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Landing_Outcome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Failure (parachute)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Precluded (drone ship)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A8CAF-930A-4BA7-854D-5509B99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Source: supplied 101-record SQL cohort. Payload units are kg; query predicates and date bounds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95111948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D39DC-E8CC-4559-B13F-F5CE80D0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Folium launch-site map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26762-647F-44EE-9FC2-DE6C59CDE82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Latitude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Longitude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28.562302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-80.577356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SLC-40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28.563197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-80.576820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KSC LC-39A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28.573255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-80.646895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VAFB SLC-4E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34.632834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-120.610746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92254-D79D-4C8F-B589-1D3C7730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The generated launch_map.html contains four site markers and a 56-launch outcome cluster. Browser policy prevented opening local HTML here; no live-map screenshot is claimed.</a:t>
            </a:r>
          </a:p>
        </p:txBody>
      </p:sp>
    </p:spTree>
    <p:extLst>
      <p:ext uri="{BB962C8B-B14F-4D97-AF65-F5344CB8AC3E}">
        <p14:creationId xmlns:p14="http://schemas.microsoft.com/office/powerpoint/2010/main" val="9539121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8A8D0-932F-46D0-8AE6-A6D03B4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Folium outcome and proximity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344FC-EDF6-4C12-ADBC-9831055C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retained map includes a green/red marker for each of 56 launch labels, a MarkerCluster layer and mouse-position coordinates. Overlapping markers at the same site require clustering for inspection.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BA6CC-A7AB-4356-97CF-4EC06F63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Using the supplied coastline point (28.56367, -80.57163) and the haversine formula gives 0.579758 km from CCAFS LC-40. This is distance to that reference point, not a surveyed minimum coastline distance.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A2115-2B05-448B-B02D-034B5521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map is a descriptive geographic view. It cannot isolate geography from launch date, mission type or hardware evolution.</a:t>
            </a:r>
          </a:p>
        </p:txBody>
      </p:sp>
    </p:spTree>
    <p:extLst>
      <p:ext uri="{BB962C8B-B14F-4D97-AF65-F5344CB8AC3E}">
        <p14:creationId xmlns:p14="http://schemas.microsoft.com/office/powerpoint/2010/main" val="10411733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57291-A6B9-4F33-9B63-E4D150CA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Dash dashboard: all sites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350A3-FAFA-4CCF-B5ED-A9DD1C1B4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e63b5d4af471c"/>
          <a:srcRect xmlns:a="http://schemas.openxmlformats.org/drawingml/2006/main" l="0" t="0" r="0" b="36000"/>
          <a:stretch xmlns:a="http://schemas.openxmlformats.org/drawingml/2006/main"/>
        </p:blipFill>
        <p:spPr>
          <a:xfrm xmlns:a="http://schemas.openxmlformats.org/drawingml/2006/main">
            <a:off x="609600" y="1524000"/>
            <a:ext cx="10972800" cy="4238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9AB25-9C41-43EC-9E7C-65D219E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Retained screenshot of the implemented Dash app. The complete Python callback source accompanies the project.</a:t>
            </a:r>
          </a:p>
        </p:txBody>
      </p:sp>
    </p:spTree>
    <p:extLst>
      <p:ext uri="{BB962C8B-B14F-4D97-AF65-F5344CB8AC3E}">
        <p14:creationId xmlns:p14="http://schemas.microsoft.com/office/powerpoint/2010/main" val="4760417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0041-7A6B-4C82-9C0A-DA881BED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Dash dashboard: filtered view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68C81-0353-4586-9CF5-8B62179F1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3fbe5b85044ab"/>
          <a:srcRect xmlns:a="http://schemas.openxmlformats.org/drawingml/2006/main" l="0" t="0" r="0" b="36000"/>
          <a:stretch xmlns:a="http://schemas.openxmlformats.org/drawingml/2006/main"/>
        </p:blipFill>
        <p:spPr>
          <a:xfrm xmlns:a="http://schemas.openxmlformats.org/drawingml/2006/main">
            <a:off x="609600" y="1524000"/>
            <a:ext cx="10972800" cy="4238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A60AE-BA78-4A67-8A99-7FE5C65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Callback checks cover ALL, each of four sites, and the 2000-5000 kg payload range. All scatter values stay within the requested filter.</a:t>
            </a:r>
          </a:p>
        </p:txBody>
      </p:sp>
    </p:spTree>
    <p:extLst>
      <p:ext uri="{BB962C8B-B14F-4D97-AF65-F5344CB8AC3E}">
        <p14:creationId xmlns:p14="http://schemas.microsoft.com/office/powerpoint/2010/main" val="18366271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10733-0B3C-44F9-9762-6BDC0A12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Dashboard cohort: success counts and denominators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47FA1-0E87-463D-A355-72446A9B6D7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Launch site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Positive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Fraction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26.9%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CCAFS SLC-40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42.9%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KSC LC-39A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76.9%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VAFB SLC-4E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40.0%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4844D-C324-4440-A2F1-8A010080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56-record dashboard cohort. These fractions are not the API cohort site rates; the two CCAFS labels remain distinct in this supplied dataset.</a:t>
            </a:r>
          </a:p>
        </p:txBody>
      </p:sp>
    </p:spTree>
    <p:extLst>
      <p:ext uri="{BB962C8B-B14F-4D97-AF65-F5344CB8AC3E}">
        <p14:creationId xmlns:p14="http://schemas.microsoft.com/office/powerpoint/2010/main" val="70683384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1FB66-BCC3-4756-80AA-DC9CCC8C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Classifier comparison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5E7E1-352E-4104-A3DD-8DCB3039FE2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CV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Held-out accuracy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Correct / 18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80.76%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83.33%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15/18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80.67%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72.22%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13/18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Decision Tree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83.24%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77.78%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14/18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KNN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73.52%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77.78%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14/18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2098C-95BE-4E80-9BF7-BBF89667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Five-fold CV on training data; separate held-out test. The highest CV score and highest test score belong to different models.</a:t>
            </a:r>
          </a:p>
        </p:txBody>
      </p:sp>
    </p:spTree>
    <p:extLst>
      <p:ext uri="{BB962C8B-B14F-4D97-AF65-F5344CB8AC3E}">
        <p14:creationId xmlns:p14="http://schemas.microsoft.com/office/powerpoint/2010/main" val="6835803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9F358-9322-4775-88FA-BDEB8147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Held-out accuracy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B22C714-3CD9-446E-B523-13396EABB8E4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1482ccf04c459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054A4-1FF8-447C-BB99-5B7315BC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Logistic regression: 15/18. A one-record change shifts accuracy by 5.6 percentage points. Avoid overinterpreting this small test set.</a:t>
            </a:r>
          </a:p>
        </p:txBody>
      </p:sp>
    </p:spTree>
    <p:extLst>
      <p:ext uri="{BB962C8B-B14F-4D97-AF65-F5344CB8AC3E}">
        <p14:creationId xmlns:p14="http://schemas.microsoft.com/office/powerpoint/2010/main" val="12344928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70D3D-CC8F-4969-A79E-C636AA0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Logistic Regression: confusion matrix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D8744-939E-4644-AEAD-5598079E3D60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class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0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1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E6FF4-ABCE-4D43-A70B-B09BB0A6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Actual held-out predictions from the 80-feature pipeline. A false positive predicts a positive landing label when the recorded label is 0.</a:t>
            </a:r>
          </a:p>
        </p:txBody>
      </p:sp>
    </p:spTree>
    <p:extLst>
      <p:ext uri="{BB962C8B-B14F-4D97-AF65-F5344CB8AC3E}">
        <p14:creationId xmlns:p14="http://schemas.microsoft.com/office/powerpoint/2010/main" val="20491359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2BDC2-B4D2-4747-9AE4-A846F8E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SVM: confusion matrix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B53D0-6A15-40A1-ACC8-411FCA5DB8D1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class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0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1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44E1A-C085-4A79-990B-2E3BF632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Actual held-out predictions from the 80-feature pipeline. A false positive predicts a positive landing label when the recorded label is 0.</a:t>
            </a:r>
          </a:p>
        </p:txBody>
      </p:sp>
    </p:spTree>
    <p:extLst>
      <p:ext uri="{BB962C8B-B14F-4D97-AF65-F5344CB8AC3E}">
        <p14:creationId xmlns:p14="http://schemas.microsoft.com/office/powerpoint/2010/main" val="15382640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E1AEC-56BF-4452-B042-2D6D5DDF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Decision Tree: confusion matrix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C1364-AA00-4EC6-982A-EA97BF4F7977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class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0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1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13495-D681-44D7-AE36-938AA1AE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Actual held-out predictions from the 80-feature pipeline. A false positive predicts a positive landing label when the recorded label is 0.</a:t>
            </a:r>
          </a:p>
        </p:txBody>
      </p:sp>
    </p:spTree>
    <p:extLst>
      <p:ext uri="{BB962C8B-B14F-4D97-AF65-F5344CB8AC3E}">
        <p14:creationId xmlns:p14="http://schemas.microsoft.com/office/powerpoint/2010/main" val="2030941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43C53-6839-434F-963D-35CAC864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KNN: confusion matrix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5F83C-C1D5-4735-AB13-783FEDF7501C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class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0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1</a:t>
                      </a:r>
                    </a:p>
                  </a:txBody>
                  <a:tcPr marL="85725" marR="85725" marT="66675" marB="66675">
                    <a:solidFill>
                      <a:srgbClr val="17375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85725" marR="85725" marT="66675" marB="6667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5725" marR="85725" marT="66675" marB="66675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5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85725" marR="85725" marT="66675" marB="666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77B13-7E64-4AB9-8FF9-573923BA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0"/>
                </a:solidFill>
                <a:latin typeface="Arial"/>
                <a:ea typeface="Arial"/>
                <a:cs typeface="Arial"/>
              </a:rPr>
              <a:t>Actual held-out predictions from the 80-feature pipeline. A false positive predicts a positive landing label when the recorded label is 0.</a:t>
            </a:r>
          </a:p>
        </p:txBody>
      </p:sp>
    </p:spTree>
    <p:extLst>
      <p:ext uri="{BB962C8B-B14F-4D97-AF65-F5344CB8AC3E}">
        <p14:creationId xmlns:p14="http://schemas.microsoft.com/office/powerpoint/2010/main" val="9729876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0C964-FA52-4125-AA9B-3F137928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Selected parameters and validation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A7607-DC16-49CC-BC7C-841C7A36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Best training parameters: logistic C=1; SVM C=10 with RBF kernel; decision-tree maximum depth=8; KNN k=3. Model selection uses training cross-validation, not repeated tuning against the held-out labels.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682F1-61F7-435A-A3F1-8093D0D3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Temporal drift, high-cardinality serial categories and potentially post-event variables limit deployment relevance. A future experiment should define pre-launch-only features and a chronological holdout.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65A23-8109-4386-8A29-33AAD8C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Do not use the reported accuracy to infer a dollar saving or an operational flight-safety probability. The label and sampling process do not support those conclusions.</a:t>
            </a:r>
          </a:p>
        </p:txBody>
      </p:sp>
    </p:spTree>
    <p:extLst>
      <p:ext uri="{BB962C8B-B14F-4D97-AF65-F5344CB8AC3E}">
        <p14:creationId xmlns:p14="http://schemas.microsoft.com/office/powerpoint/2010/main" val="126569727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D6C42-A0C4-45F4-9C9B-ED9CDBF7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Additional insight: outcome and cohort definitions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184B3-D949-44D3-95F3-4F5C618C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Five positive ocean outcomes contribute to the 60/90 course label. A reuse-focused question should distinguish controlled landing, ocean contact, physical recovery and later reuse before defining its target.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AD773-C10C-4379-86D6-70CB4C2A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Three supplied cohorts have 90, 101 and 56 records. Keeping these populations separate explains why site counts and success fractions differ without inventing a data-quality correction.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A0147-1DB6-424D-8805-827990C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A defensible follow-up would reconcile launch identifiers, document intended deployment time, and evaluate a pre-launch-only chronological model with calibrated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11595536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EFBD-5865-48DD-94D2-DFB60969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AC157-0911-4066-A106-EDB7435E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project provides six exploratory visualizations, ten executed SQL queries, map and dashboard analysis, and a reproducible four-model comparison on historical course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305D4-C4DA-4828-97A8-2E758BF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Logistic regression achieved the strongest held-out score in this experiment, while the decision tree led cross-validation. The test set is too small to claim a reliable model ranking for future missions.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2DC3-B647-4D79-9747-A0AEA66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generated map and complete source files support further inspection. A useful next step is a chronological evaluation with pre-launch-only variables and an outcome definition tied to physical recovery.</a:t>
            </a:r>
          </a:p>
        </p:txBody>
      </p:sp>
    </p:spTree>
    <p:extLst>
      <p:ext uri="{BB962C8B-B14F-4D97-AF65-F5344CB8AC3E}">
        <p14:creationId xmlns:p14="http://schemas.microsoft.com/office/powerpoint/2010/main" val="3324795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7E666-B7BA-40CB-AA53-DFE80DD3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750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D5A58-ED32-4F0F-9D14-CD19325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Course data and notebooks: IBM Applied Data Science Capstone, including retained API_call_spacex_api.json, dataset_part_1/2.csv, Spacex.csv and the map/dashboard CSV snapshots.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DC364-2425-4A03-AC32-02E54D4C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Original analysis: checks.py, eda_checks.py, remaining_checks.py, interactive_dashboard.py and ten additional SQL queries. JSON verification files retain counts, filters, parameters and scores.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50944-874B-4345-A40B-B207F69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7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50"/>
                </a:solidFill>
                <a:latin typeface="Arial"/>
                <a:ea typeface="Arial"/>
                <a:cs typeface="Arial"/>
              </a:rPr>
              <a:t>The public launch API metadata fallback and blocked local-map browser preview are explicit. The reproducibility bundle retains the cohort data, queries, Python source and executed notebooks.</a:t>
            </a:r>
          </a:p>
        </p:txBody>
      </p:sp>
    </p:spTree>
    <p:extLst>
      <p:ext uri="{BB962C8B-B14F-4D97-AF65-F5344CB8AC3E}">
        <p14:creationId xmlns:p14="http://schemas.microsoft.com/office/powerpoint/2010/main" val="383426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2026-10-23T02:05:42.1620000Z</dcterms:created>
  <dcterms:modified xsi:type="dcterms:W3CDTF">2026-10-23T02:05:42.1620000Z</dcterms:modified>
</coreProperties>
</file>